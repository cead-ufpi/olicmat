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560320"/>
            <a:ext cx="2743200" cy="5080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0F0F0"/>
                </a:solidFill>
                <a:latin typeface="Outfit"/>
              </a:defRPr>
            </a:pPr>
            <a:r>
              <a:t>OLICMAT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4A83C"/>
                </a:solidFill>
                <a:latin typeface="Outfit"/>
              </a:defRPr>
            </a:pPr>
            <a:r>
              <a:t>Olimpíada para Licenciandos em Matemática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Outfit"/>
              </a:defRPr>
            </a:pPr>
            <a:r>
              <a:t>Plataforma integrada de competição olímpica, formação pedagógica</a:t>
            </a:r>
            <a:br/>
            <a:r>
              <a:t>e congresso acadêmico para futuros professores de Matemática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Outfit"/>
              </a:defRPr>
            </a:pPr>
            <a:r>
              <a:t>Maio de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Outfit"/>
              </a:defRPr>
            </a:pPr>
            <a:r>
              <a:t>Kickoff — Equipe OLICMAT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0B0"/>
                </a:solidFill>
                <a:latin typeface="Outfit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Outfit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828800" cy="3810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83C"/>
                </a:solidFill>
                <a:latin typeface="Outfit"/>
              </a:defRPr>
            </a:pPr>
            <a: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828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0"/>
                </a:solidFill>
                <a:latin typeface="Outfit"/>
              </a:defRPr>
            </a:pPr>
            <a:r>
              <a:t>O que é a OLICMAT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148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Outfit"/>
              </a:defRPr>
            </a:pPr>
            <a:r>
              <a:t>Visão geral e os três pilares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06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83C"/>
                </a:solidFill>
                <a:latin typeface="Outfit"/>
              </a:defRPr>
            </a:pPr>
            <a: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606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0"/>
                </a:solidFill>
                <a:latin typeface="Outfit"/>
              </a:defRPr>
            </a:pPr>
            <a:r>
              <a:t>Público-alvo e impacto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9260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Outfit"/>
              </a:defRPr>
            </a:pPr>
            <a:r>
              <a:t>Quem participa e o que ganha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383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83C"/>
                </a:solidFill>
                <a:latin typeface="Outfit"/>
              </a:defRPr>
            </a:pPr>
            <a: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383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0"/>
                </a:solidFill>
                <a:latin typeface="Outfit"/>
              </a:defRPr>
            </a:pPr>
            <a:r>
              <a:t>Cronograma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703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Outfit"/>
              </a:defRPr>
            </a:pPr>
            <a:r>
              <a:t>Marcos e datas importantes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160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83C"/>
                </a:solidFill>
                <a:latin typeface="Outfit"/>
              </a:defRPr>
            </a:pPr>
            <a: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4160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0"/>
                </a:solidFill>
                <a:latin typeface="Outfit"/>
              </a:defRPr>
            </a:pPr>
            <a:r>
              <a:t>A Plataforma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48055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Outfit"/>
              </a:defRPr>
            </a:pPr>
            <a:r>
              <a:t>O que está pronto e como funciona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37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83C"/>
                </a:solidFill>
                <a:latin typeface="Outfit"/>
              </a:defRPr>
            </a:pPr>
            <a: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937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0"/>
                </a:solidFill>
                <a:latin typeface="Outfit"/>
              </a:defRPr>
            </a:pPr>
            <a:r>
              <a:t>Funcionalidades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257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Outfit"/>
              </a:defRPr>
            </a:pPr>
            <a:r>
              <a:t>Destaques por pilar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715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83C"/>
                </a:solidFill>
                <a:latin typeface="Outfit"/>
              </a:defRPr>
            </a:pPr>
            <a:r>
              <a:t>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5715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0"/>
                </a:solidFill>
                <a:latin typeface="Outfit"/>
              </a:defRPr>
            </a:pPr>
            <a:r>
              <a:t>Próximos passos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6035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Outfit"/>
              </a:defRPr>
            </a:pPr>
            <a:r>
              <a:t>Entregas, riscos e o que precisamos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0B0"/>
                </a:solidFill>
                <a:latin typeface="Outfit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Outfit"/>
              </a:defRPr>
            </a:pPr>
            <a:r>
              <a:t>O que é a OLICMAT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828800" cy="3810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Outfit"/>
              </a:defRPr>
            </a:pPr>
            <a:r>
              <a:t>Uma plataforma digital que une três iniciativas acadêmicas em uma só experiência, voltada exclusivamente para estudantes de Licenciatura em Matemática de instituições públicas brasileiras.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00400"/>
            <a:ext cx="3474720" cy="256032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D4A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383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83C"/>
                </a:solidFill>
                <a:latin typeface="Outfit"/>
              </a:defRPr>
            </a:pPr>
            <a:r>
              <a:t>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931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0"/>
                </a:solidFill>
                <a:latin typeface="Outfit"/>
              </a:defRPr>
            </a:pPr>
            <a:r>
              <a:t>OLICMAT — Competição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4805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Outfit"/>
              </a:defRPr>
            </a:pPr>
            <a:r>
              <a:t>Olimpíada em duas fases: prova objetiva online (30 questões) + produção de videoaula e portfólio digital. Ranking estadual com medalhas de ouro, prata e bronze.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3200400"/>
            <a:ext cx="3474720" cy="256032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D4A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3383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D4BF"/>
                </a:solidFill>
                <a:latin typeface="Outfit"/>
              </a:defRPr>
            </a:pPr>
            <a:r>
              <a:t>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931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0"/>
                </a:solidFill>
                <a:latin typeface="Outfit"/>
              </a:defRPr>
            </a:pPr>
            <a:r>
              <a:t>FORPEMAT — Formação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4805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Outfit"/>
              </a:defRPr>
            </a:pPr>
            <a:r>
              <a:t>Programa de formação pedagógica com 14 módulos (120 horas). Conteúdo 100% online, progresso individual e certificado automático com código de validação único.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200400"/>
            <a:ext cx="3474720" cy="256032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D4A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3383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60A0"/>
                </a:solidFill>
                <a:latin typeface="Outfit"/>
              </a:defRPr>
            </a:pPr>
            <a:r>
              <a:t>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3931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0"/>
                </a:solidFill>
                <a:latin typeface="Outfit"/>
              </a:defRPr>
            </a:pPr>
            <a:r>
              <a:t>CONGEMAT — Congresso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44805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Outfit"/>
              </a:defRPr>
            </a:pPr>
            <a:r>
              <a:t>Congresso acadêmico para submissão de artigos completos e pôsteres. Avaliação por pares, fluxo digital do início ao fim, sem custos para os participantes.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0B0"/>
                </a:solidFill>
                <a:latin typeface="Outfit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Outfit"/>
              </a:defRPr>
            </a:pPr>
            <a:r>
              <a:t>Público-Alvo e Impacto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828800" cy="3810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560320" cy="182880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D4A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D4A83C"/>
                </a:solidFill>
                <a:latin typeface="Outfit"/>
              </a:defRPr>
            </a:pPr>
            <a:r>
              <a:t>~ 65.000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Outfit"/>
              </a:defRPr>
            </a:pPr>
            <a:r>
              <a:t>Licenciandos em</a:t>
            </a:r>
            <a:br/>
            <a:r>
              <a:t>Matemática no Brasil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1828800"/>
            <a:ext cx="2560320" cy="182880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2103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2DD4BF"/>
                </a:solidFill>
                <a:latin typeface="Outfit"/>
              </a:defRPr>
            </a:pPr>
            <a:r>
              <a:t>186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743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Outfit"/>
              </a:defRPr>
            </a:pPr>
            <a:r>
              <a:t>Instituições públicas</a:t>
            </a:r>
            <a:br/>
            <a:r>
              <a:t>com o curso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828800"/>
            <a:ext cx="2560320" cy="182880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C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103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C060A0"/>
                </a:solidFill>
                <a:latin typeface="Outfit"/>
              </a:defRPr>
            </a:pPr>
            <a:r>
              <a:t>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743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Outfit"/>
              </a:defRPr>
            </a:pPr>
            <a:r>
              <a:t>Estados brasileiros</a:t>
            </a:r>
            <a:br/>
            <a:r>
              <a:t>abrangidos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1828800"/>
            <a:ext cx="2560320" cy="182880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D4A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2103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D4A83C"/>
                </a:solidFill>
                <a:latin typeface="Outfit"/>
              </a:defRPr>
            </a:pPr>
            <a:r>
              <a:t>1.000+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743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Outfit"/>
              </a:defRPr>
            </a:pPr>
            <a:r>
              <a:t>Inscritos esperados</a:t>
            </a:r>
            <a:br/>
            <a:r>
              <a:t>na 1ª edição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0"/>
                </a:solidFill>
                <a:latin typeface="Outfit"/>
              </a:defRPr>
            </a:pPr>
            <a:r>
              <a:t>O que os participantes ganham: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63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D4BF"/>
                </a:solidFill>
                <a:latin typeface="Outfit"/>
              </a:defRPr>
            </a:pPr>
            <a: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663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0"/>
                </a:solidFill>
                <a:latin typeface="Outfit"/>
              </a:defRPr>
            </a:pPr>
            <a:r>
              <a:t>Medalhas e premiação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93775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Outfit"/>
              </a:defRPr>
            </a:pPr>
            <a:r>
              <a:t>Reconhecimento acadêmico com ranking estadual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663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D4BF"/>
                </a:solidFill>
                <a:latin typeface="Outfit"/>
              </a:defRPr>
            </a:pPr>
            <a: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663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0"/>
                </a:solidFill>
                <a:latin typeface="Outfit"/>
              </a:defRPr>
            </a:pPr>
            <a:r>
              <a:t>Certificado 120 horas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93775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Outfit"/>
              </a:defRPr>
            </a:pPr>
            <a:r>
              <a:t>Formação pedagógica complementar gratuita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D4BF"/>
                </a:solidFill>
                <a:latin typeface="Outfit"/>
              </a:defRPr>
            </a:pPr>
            <a: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349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0"/>
                </a:solidFill>
                <a:latin typeface="Outfit"/>
              </a:defRPr>
            </a:pPr>
            <a:r>
              <a:t>Publicação acadêmica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62355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Outfit"/>
              </a:defRPr>
            </a:pPr>
            <a:r>
              <a:t>Submissão de artigos sem custo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349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D4BF"/>
                </a:solidFill>
                <a:latin typeface="Outfit"/>
              </a:defRPr>
            </a:pPr>
            <a: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5349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0"/>
                </a:solidFill>
                <a:latin typeface="Outfit"/>
              </a:defRPr>
            </a:pPr>
            <a:r>
              <a:t>Currículo fortalecido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62355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Outfit"/>
              </a:defRPr>
            </a:pPr>
            <a:r>
              <a:t>Diferencial para mestrado e seleções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0B0"/>
                </a:solidFill>
                <a:latin typeface="Outfit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Outfit"/>
              </a:defRPr>
            </a:pPr>
            <a:r>
              <a:t>Cronograma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828800" cy="3810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" y="2286000"/>
            <a:ext cx="640080" cy="64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0A14"/>
                </a:solidFill>
                <a:latin typeface="Outfit"/>
              </a:defRPr>
            </a:pPr>
            <a:r>
              <a:t>MAI</a:t>
            </a:r>
          </a:p>
        </p:txBody>
      </p:sp>
      <p:sp>
        <p:nvSpPr>
          <p:cNvPr id="6" name="Rectangle 5"/>
          <p:cNvSpPr/>
          <p:nvPr/>
        </p:nvSpPr>
        <p:spPr>
          <a:xfrm>
            <a:off x="1691639" y="2560320"/>
            <a:ext cx="1188720" cy="2540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Outfit"/>
              </a:defRPr>
            </a:pPr>
            <a:r>
              <a:t>Plataforma no ar</a:t>
            </a:r>
            <a:br/>
            <a:r>
              <a:t>Versão beta</a:t>
            </a:r>
          </a:p>
        </p:txBody>
      </p:sp>
      <p:sp>
        <p:nvSpPr>
          <p:cNvPr id="8" name="Oval 7"/>
          <p:cNvSpPr/>
          <p:nvPr/>
        </p:nvSpPr>
        <p:spPr>
          <a:xfrm>
            <a:off x="2606040" y="2286000"/>
            <a:ext cx="640080" cy="640080"/>
          </a:xfrm>
          <a:prstGeom prst="ellipse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23317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0A14"/>
                </a:solidFill>
                <a:latin typeface="Outfit"/>
              </a:defRPr>
            </a:pPr>
            <a:r>
              <a:t>JUN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2560320"/>
            <a:ext cx="1188720" cy="2540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3200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Outfit"/>
              </a:defRPr>
            </a:pPr>
            <a:r>
              <a:t>Abertura das</a:t>
            </a:r>
            <a:br/>
            <a:r>
              <a:t>inscrições</a:t>
            </a:r>
          </a:p>
        </p:txBody>
      </p:sp>
      <p:sp>
        <p:nvSpPr>
          <p:cNvPr id="12" name="Oval 11"/>
          <p:cNvSpPr/>
          <p:nvPr/>
        </p:nvSpPr>
        <p:spPr>
          <a:xfrm>
            <a:off x="4206240" y="2286000"/>
            <a:ext cx="640080" cy="640080"/>
          </a:xfrm>
          <a:prstGeom prst="ellipse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23317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0A14"/>
                </a:solidFill>
                <a:latin typeface="Outfit"/>
              </a:defRPr>
            </a:pPr>
            <a:r>
              <a:t>JUL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2040" y="2560320"/>
            <a:ext cx="1188720" cy="2540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0" y="3200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Outfit"/>
              </a:defRPr>
            </a:pPr>
            <a:r>
              <a:t>Fase 1</a:t>
            </a:r>
            <a:br/>
            <a:r>
              <a:t>Prova online</a:t>
            </a:r>
          </a:p>
        </p:txBody>
      </p:sp>
      <p:sp>
        <p:nvSpPr>
          <p:cNvPr id="16" name="Oval 15"/>
          <p:cNvSpPr/>
          <p:nvPr/>
        </p:nvSpPr>
        <p:spPr>
          <a:xfrm>
            <a:off x="5806440" y="2286000"/>
            <a:ext cx="640080" cy="64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23317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0A14"/>
                </a:solidFill>
                <a:latin typeface="Outfit"/>
              </a:defRPr>
            </a:pPr>
            <a:r>
              <a:t>AGO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560320"/>
            <a:ext cx="1188720" cy="2540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3200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Outfit"/>
              </a:defRPr>
            </a:pPr>
            <a:r>
              <a:t>Resultado F1 +</a:t>
            </a:r>
            <a:br/>
            <a:r>
              <a:t>Início Fase 2</a:t>
            </a:r>
          </a:p>
        </p:txBody>
      </p:sp>
      <p:sp>
        <p:nvSpPr>
          <p:cNvPr id="20" name="Oval 19"/>
          <p:cNvSpPr/>
          <p:nvPr/>
        </p:nvSpPr>
        <p:spPr>
          <a:xfrm>
            <a:off x="7406640" y="2286000"/>
            <a:ext cx="640080" cy="640080"/>
          </a:xfrm>
          <a:prstGeom prst="ellipse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23317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0A14"/>
                </a:solidFill>
                <a:latin typeface="Outfit"/>
              </a:defRPr>
            </a:pPr>
            <a:r>
              <a:t>SET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2440" y="2560320"/>
            <a:ext cx="1188720" cy="2540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3200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Outfit"/>
              </a:defRPr>
            </a:pPr>
            <a:r>
              <a:t>Envio da</a:t>
            </a:r>
            <a:br/>
            <a:r>
              <a:t>Fase 2</a:t>
            </a:r>
          </a:p>
        </p:txBody>
      </p:sp>
      <p:sp>
        <p:nvSpPr>
          <p:cNvPr id="24" name="Oval 23"/>
          <p:cNvSpPr/>
          <p:nvPr/>
        </p:nvSpPr>
        <p:spPr>
          <a:xfrm>
            <a:off x="9006840" y="2286000"/>
            <a:ext cx="640080" cy="64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23317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0A14"/>
                </a:solidFill>
                <a:latin typeface="Outfit"/>
              </a:defRPr>
            </a:pPr>
            <a:r>
              <a:t>OUT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2560320"/>
            <a:ext cx="1188720" cy="2540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3200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Outfit"/>
              </a:defRPr>
            </a:pPr>
            <a:r>
              <a:t>Avaliação F2 +</a:t>
            </a:r>
            <a:br/>
            <a:r>
              <a:t>CONGEMAT</a:t>
            </a:r>
          </a:p>
        </p:txBody>
      </p:sp>
      <p:sp>
        <p:nvSpPr>
          <p:cNvPr id="28" name="Oval 27"/>
          <p:cNvSpPr/>
          <p:nvPr/>
        </p:nvSpPr>
        <p:spPr>
          <a:xfrm>
            <a:off x="10607040" y="2286000"/>
            <a:ext cx="640080" cy="640080"/>
          </a:xfrm>
          <a:prstGeom prst="ellipse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87000" y="23317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0A14"/>
                </a:solidFill>
                <a:latin typeface="Outfit"/>
              </a:defRPr>
            </a:pPr>
            <a:r>
              <a:t>NOV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3200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Outfit"/>
              </a:defRPr>
            </a:pPr>
            <a:r>
              <a:t>Resultado final</a:t>
            </a:r>
            <a:br/>
            <a:r>
              <a:t>Medalhas + Certificados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4572000"/>
            <a:ext cx="10332720" cy="128016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71600" y="47548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Outfit"/>
              </a:defRPr>
            </a:pPr>
            <a:r>
              <a:t>🟢 Momento atual: Maio 2026 — Plataforma em versão beta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2120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Outfit"/>
              </a:defRPr>
            </a:pPr>
            <a:r>
              <a:t>Sistema já contempla: autenticação completa, prova online, ranking, catálogo FORPEMAT, submissão CONGEMAT e upload de arquivos via Cloudinary.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0B0"/>
                </a:solidFill>
                <a:latin typeface="Outfit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Outfit"/>
              </a:defRPr>
            </a:pPr>
            <a:r>
              <a:t>A Plataforma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828800" cy="3810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32720" cy="118872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659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DD4BF"/>
                </a:solidFill>
                <a:latin typeface="Outfit"/>
              </a:defRPr>
            </a:pPr>
            <a:r>
              <a:t>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965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0"/>
                </a:solidFill>
                <a:latin typeface="Outfit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965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Outfit"/>
              </a:defRPr>
            </a:pPr>
            <a:r>
              <a:t>Next.js 16 + Tailwind CSS + shadcn/ui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4688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Outfit"/>
              </a:defRPr>
            </a:pPr>
            <a:r>
              <a:t>Interface moderna, responsiva, tema escuro, acessível em qualquer dispositivo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291840"/>
            <a:ext cx="10332720" cy="118872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D4A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429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D4A83C"/>
                </a:solidFill>
                <a:latin typeface="Outfit"/>
              </a:defRPr>
            </a:pPr>
            <a:r>
              <a:t>⚙️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429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0"/>
                </a:solidFill>
                <a:latin typeface="Outfit"/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429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Outfit"/>
              </a:defRPr>
            </a:pPr>
            <a:r>
              <a:t>NestJS 11 + Prisma + PostgreSQL 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9319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Outfit"/>
              </a:defRPr>
            </a:pPr>
            <a:r>
              <a:t>API REST com autenticação JWT, validação Zod, upload Cloudinary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54880"/>
            <a:ext cx="10332720" cy="118872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C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892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C060A0"/>
                </a:solidFill>
                <a:latin typeface="Outfit"/>
              </a:defRPr>
            </a:pPr>
            <a:r>
              <a:t>☁️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892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0"/>
                </a:solidFill>
                <a:latin typeface="Outfit"/>
              </a:defRPr>
            </a:pPr>
            <a:r>
              <a:t>Infra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892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Outfit"/>
              </a:defRPr>
            </a:pPr>
            <a:r>
              <a:t>Docker + Cloudinary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3949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Outfit"/>
              </a:defRPr>
            </a:pPr>
            <a:r>
              <a:t>Containerizado, deploy simplificado, armazenamento de mídia na nuvem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0B0"/>
                </a:solidFill>
                <a:latin typeface="Outfit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Outfit"/>
              </a:defRPr>
            </a:pPr>
            <a:r>
              <a:t>Destaque: Competição OLICMAT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828800" cy="3810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0B0"/>
                </a:solidFill>
                <a:latin typeface="Outfit"/>
              </a:defRPr>
            </a:pPr>
            <a:r>
              <a:t>Duas fases que avaliam conhecimento teórico e habilidade didática: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5029200" cy="292608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D4A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83C"/>
                </a:solidFill>
                <a:latin typeface="Outfit"/>
              </a:defRPr>
            </a:pPr>
            <a:r>
              <a:t>FASE 1 — Prova Objetiva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175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Outfit"/>
              </a:defRPr>
            </a:pPr>
            <a:r>
              <a:t>• 30 questões de múltipla escolha (A-E)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364991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Outfit"/>
              </a:defRPr>
            </a:pPr>
            <a:r>
              <a:t>• Eixos: Álgebra, Geometria, Análise, Estatística, Didática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712463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Outfit"/>
              </a:defRPr>
            </a:pPr>
            <a:r>
              <a:t>• Cronômetro regressivo de 180 minutos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059935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Outfit"/>
              </a:defRPr>
            </a:pPr>
            <a:r>
              <a:t>• Correção automática ao finalizar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0740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Outfit"/>
              </a:defRPr>
            </a:pPr>
            <a:r>
              <a:t>• Salvamento contínuo das respostas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75487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Outfit"/>
              </a:defRPr>
            </a:pPr>
            <a:r>
              <a:t>• Peso: 40% da nota final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286000"/>
            <a:ext cx="5029200" cy="292608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D4BF"/>
                </a:solidFill>
                <a:latin typeface="Outfit"/>
              </a:defRPr>
            </a:pPr>
            <a:r>
              <a:t>FASE 2 — Produção Didática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0175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Outfit"/>
              </a:defRPr>
            </a:pPr>
            <a:r>
              <a:t>• Sorteio de tema entre 10 opções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364991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Outfit"/>
              </a:defRPr>
            </a:pPr>
            <a:r>
              <a:t>• Produção de videoaula (até 20 min, MP4)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712463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Outfit"/>
              </a:defRPr>
            </a:pPr>
            <a:r>
              <a:t>• Elaboração de portfólio digital (PDF)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059935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Outfit"/>
              </a:defRPr>
            </a:pPr>
            <a:r>
              <a:t>• Upload direto pela plataforma (Cloudinary)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40740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Outfit"/>
              </a:defRPr>
            </a:pPr>
            <a:r>
              <a:t>• Avaliação por banca de professores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75487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Outfit"/>
              </a:defRPr>
            </a:pPr>
            <a:r>
              <a:t>• Peso: 60% da nota final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486400"/>
            <a:ext cx="10332720" cy="73152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C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562356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Outfit"/>
              </a:defRPr>
            </a:pPr>
            <a:r>
              <a:t>🏅 Ranking estadual com medalhas: Ouro (top 5%), Prata (10%), Bronze (15%) — cálculo automático por estado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0B0"/>
                </a:solidFill>
                <a:latin typeface="Outfit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Outfit"/>
              </a:defRPr>
            </a:pPr>
            <a:r>
              <a:t>Destaque: Formação e Congresso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828800" cy="3810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5029200" cy="411480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Outfit"/>
              </a:defRPr>
            </a:pPr>
            <a:r>
              <a:t>📚 FORPEMAT — 14 Módulos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Outfit"/>
              </a:defRPr>
            </a:pPr>
            <a:r>
              <a:t>• TDICs na Educação Matemática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2432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Outfit"/>
              </a:defRPr>
            </a:pPr>
            <a:r>
              <a:t>• Metodologias Ativas no Ensino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871216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Outfit"/>
              </a:defRPr>
            </a:pPr>
            <a:r>
              <a:t>• Resolução de Problemas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11810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Outfit"/>
              </a:defRPr>
            </a:pPr>
            <a:r>
              <a:t>• Modelagem Matemática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36499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Outfit"/>
              </a:defRPr>
            </a:pPr>
            <a:r>
              <a:t>• Didática da Matemática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61188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Outfit"/>
              </a:defRPr>
            </a:pPr>
            <a:r>
              <a:t>• Avaliação da Aprendizagem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85876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Outfit"/>
              </a:defRPr>
            </a:pPr>
            <a:r>
              <a:t>• Etnomatemática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105656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Outfit"/>
              </a:defRPr>
            </a:pPr>
            <a:r>
              <a:t>• História da Matemática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35254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Outfit"/>
              </a:defRPr>
            </a:pPr>
            <a:r>
              <a:t>• Geometria Dinâmica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59943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Outfit"/>
              </a:defRPr>
            </a:pPr>
            <a:r>
              <a:t>• Pensamento Computacional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84632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Outfit"/>
              </a:defRPr>
            </a:pPr>
            <a:r>
              <a:t>• Educação Inclusiva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09320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Outfit"/>
              </a:defRPr>
            </a:pPr>
            <a:r>
              <a:t>• Currículo e BNCC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340096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Outfit"/>
              </a:defRPr>
            </a:pPr>
            <a:r>
              <a:t>• Jogos no Ensino de Matemática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58698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Outfit"/>
              </a:defRPr>
            </a:pPr>
            <a:r>
              <a:t>• Projeto Integrador: Sequência Didática Digital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5669280"/>
            <a:ext cx="4114800" cy="4572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57607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0A14"/>
                </a:solidFill>
                <a:latin typeface="Outfit"/>
              </a:defRPr>
            </a:pPr>
            <a:r>
              <a:t>Certificado automático de 120h ao concluir todos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645920"/>
            <a:ext cx="5029200" cy="274320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C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60A0"/>
                </a:solidFill>
                <a:latin typeface="Outfit"/>
              </a:defRPr>
            </a:pPr>
            <a:r>
              <a:t>📖 CONGEMAT — Congresso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3774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Outfit"/>
              </a:defRPr>
            </a:pPr>
            <a:r>
              <a:t>• Submissão de artigos completos e pôsteres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6974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Outfit"/>
              </a:defRPr>
            </a:pPr>
            <a:r>
              <a:t>• Upload de PDF diretamente na plataforma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0175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Outfit"/>
              </a:defRPr>
            </a:pPr>
            <a:r>
              <a:t>• Fluxo de avaliação por pares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3375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Outfit"/>
              </a:defRPr>
            </a:pPr>
            <a:r>
              <a:t>• Status em tempo real: Em avaliação / Aprovado / Rejeitado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6576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Outfit"/>
              </a:defRPr>
            </a:pPr>
            <a:r>
              <a:t>• Sem custos para participantes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97763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Outfit"/>
              </a:defRPr>
            </a:pPr>
            <a:r>
              <a:t>• Anais digitais com todos os trabalhos aprovados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754880"/>
            <a:ext cx="5029200" cy="146304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D4A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83C"/>
                </a:solidFill>
                <a:latin typeface="Outfit"/>
              </a:defRPr>
            </a:pPr>
            <a:r>
              <a:t>🎯 Metas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3949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Outfit"/>
              </a:defRPr>
            </a:pPr>
            <a:r>
              <a:t>▸ Meta de 1.000+ inscritos na 1ª edição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7150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Outfit"/>
              </a:defRPr>
            </a:pPr>
            <a:r>
              <a:t>▸ 70% concluírem ao menos 1 módulo FORPEMAT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60350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Outfit"/>
              </a:defRPr>
            </a:pPr>
            <a:r>
              <a:t>▸ 100+ submissões no CONGEMAT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0B0"/>
                </a:solidFill>
                <a:latin typeface="Outfit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Outfit"/>
              </a:defRPr>
            </a:pPr>
            <a:r>
              <a:t>Status Atual do Desenvolvimento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828800" cy="3810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0B0"/>
                </a:solidFill>
                <a:latin typeface="Outfit"/>
              </a:defRPr>
            </a:pPr>
            <a:r>
              <a:t>A plataforma está funcional — o MVP cobre os fluxos principais dos três pilares: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10332720" cy="502920"/>
          </a:xfrm>
          <a:prstGeom prst="round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0"/>
                </a:solidFill>
                <a:latin typeface="Outfit"/>
              </a:defRPr>
            </a:pPr>
            <a: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194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Outfit"/>
              </a:defRPr>
            </a:pPr>
            <a:r>
              <a:t>Autenticação completa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1945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Outfit"/>
              </a:defRPr>
            </a:pPr>
            <a:r>
              <a:t>Registro em 2 etapas, login JWT, 3 perfis (Aluno, Avaliador, Admin)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697479"/>
            <a:ext cx="10332720" cy="502920"/>
          </a:xfrm>
          <a:prstGeom prst="round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788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0"/>
                </a:solidFill>
                <a:latin typeface="Outfit"/>
              </a:defRPr>
            </a:pPr>
            <a: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788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Outfit"/>
              </a:defRPr>
            </a:pPr>
            <a:r>
              <a:t>Inscrição OLICMAT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7889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Outfit"/>
              </a:defRPr>
            </a:pPr>
            <a:r>
              <a:t>Formulário com UF, instituição, curso, período + validação por admin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291839"/>
            <a:ext cx="10332720" cy="502920"/>
          </a:xfrm>
          <a:prstGeom prst="round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38327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0"/>
                </a:solidFill>
                <a:latin typeface="Outfit"/>
              </a:defRPr>
            </a:pPr>
            <a: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832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Outfit"/>
              </a:defRPr>
            </a:pPr>
            <a:r>
              <a:t>Prova Fase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383279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Outfit"/>
              </a:defRPr>
            </a:pPr>
            <a:r>
              <a:t>30 questões com timer de 180 min, salvamento contínuo, correção automática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886200"/>
            <a:ext cx="10332720" cy="502920"/>
          </a:xfrm>
          <a:prstGeom prst="round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97763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0"/>
                </a:solidFill>
                <a:latin typeface="Outfit"/>
              </a:defRPr>
            </a:pPr>
            <a: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9776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Outfit"/>
              </a:defRPr>
            </a:pPr>
            <a:r>
              <a:t>Upload Fase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977639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Outfit"/>
              </a:defRPr>
            </a:pPr>
            <a:r>
              <a:t>Videoaula (MP4) + Portfólio (PDF) via Cloudinary com barra de progresso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480560"/>
            <a:ext cx="10332720" cy="502920"/>
          </a:xfrm>
          <a:prstGeom prst="round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5720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0"/>
                </a:solidFill>
                <a:latin typeface="Outfit"/>
              </a:defRPr>
            </a:pPr>
            <a: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572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Outfit"/>
              </a:defRPr>
            </a:pPr>
            <a:r>
              <a:t>Ranking + Medalhas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5720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Outfit"/>
              </a:defRPr>
            </a:pPr>
            <a:r>
              <a:t>Por estado, distribuição automática Ouro/Prata/Bronze (5%/10%/15%)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074920"/>
            <a:ext cx="10332720" cy="502920"/>
          </a:xfrm>
          <a:prstGeom prst="round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16635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0"/>
                </a:solidFill>
                <a:latin typeface="Outfit"/>
              </a:defRPr>
            </a:pPr>
            <a: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16635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Outfit"/>
              </a:defRPr>
            </a:pPr>
            <a:r>
              <a:t>FORPEMAT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5166359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Outfit"/>
              </a:defRPr>
            </a:pPr>
            <a:r>
              <a:t>14 módulos com conteúdo, progresso individual, certificado automático 120h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5669280"/>
            <a:ext cx="10332720" cy="502920"/>
          </a:xfrm>
          <a:prstGeom prst="round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7607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0"/>
                </a:solidFill>
                <a:latin typeface="Outfit"/>
              </a:defRPr>
            </a:pPr>
            <a:r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760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Outfit"/>
              </a:defRPr>
            </a:pPr>
            <a:r>
              <a:t>CONGEMAT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57607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Outfit"/>
              </a:defRPr>
            </a:pPr>
            <a:r>
              <a:t>Submissão de artigos/pôsteres, avaliação por pares, status em tempo real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6263640"/>
            <a:ext cx="10332720" cy="502920"/>
          </a:xfrm>
          <a:prstGeom prst="round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635507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0"/>
                </a:solidFill>
                <a:latin typeface="Outfit"/>
              </a:defRPr>
            </a:pPr>
            <a:r>
              <a:t>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63550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Outfit"/>
              </a:defRPr>
            </a:pPr>
            <a:r>
              <a:t>Docker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6355079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Outfit"/>
              </a:defRPr>
            </a:pPr>
            <a:r>
              <a:t>Ambiente containerizado: PostgreSQL + Backend + Frontend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0B0"/>
                </a:solidFill>
                <a:latin typeface="Outfit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Outfit"/>
              </a:defRPr>
            </a:pPr>
            <a:r>
              <a:t>Próximos Passos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828800" cy="3810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32720" cy="96012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D4A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783080"/>
            <a:ext cx="1463040" cy="640080"/>
          </a:xfrm>
          <a:prstGeom prst="round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8745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0A14"/>
                </a:solidFill>
                <a:latin typeface="Outfit"/>
              </a:defRPr>
            </a:pPr>
            <a:r>
              <a:t>MAI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488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A0A14"/>
                </a:solidFill>
                <a:latin typeface="Outfit"/>
              </a:defRPr>
            </a:pPr>
            <a:r>
              <a:t>Semanas 1-2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7830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0"/>
                </a:solidFill>
                <a:latin typeface="Outfit"/>
              </a:defRPr>
            </a:pPr>
            <a:r>
              <a:t>Testes de carga e segurança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1488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Outfit"/>
              </a:defRPr>
            </a:pPr>
            <a:r>
              <a:t>Garantir que a plataforma suporte picos de acesso durante a prova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788920"/>
            <a:ext cx="10332720" cy="96012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D4A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2926079"/>
            <a:ext cx="1463040" cy="640080"/>
          </a:xfrm>
          <a:prstGeom prst="round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017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0A14"/>
                </a:solidFill>
                <a:latin typeface="Outfit"/>
              </a:defRPr>
            </a:pPr>
            <a:r>
              <a:t>MAI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29183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A0A14"/>
                </a:solidFill>
                <a:latin typeface="Outfit"/>
              </a:defRPr>
            </a:pPr>
            <a:r>
              <a:t>Semanas 3-4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2607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0"/>
                </a:solidFill>
                <a:latin typeface="Outfit"/>
              </a:defRPr>
            </a:pPr>
            <a:r>
              <a:t>Ajustes finos e correções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2918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Outfit"/>
              </a:defRPr>
            </a:pPr>
            <a:r>
              <a:t>Revisão de UX, validação de formulários, mensagens de erro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931920"/>
            <a:ext cx="10332720" cy="96012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97280" y="4069080"/>
            <a:ext cx="1463040" cy="64008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160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0A14"/>
                </a:solidFill>
                <a:latin typeface="Outfit"/>
              </a:defRPr>
            </a:pPr>
            <a:r>
              <a:t>JUN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4348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A0A14"/>
                </a:solidFill>
                <a:latin typeface="Outfit"/>
              </a:defRPr>
            </a:pPr>
            <a:r>
              <a:t>Semana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0690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0"/>
                </a:solidFill>
                <a:latin typeface="Outfit"/>
              </a:defRPr>
            </a:pPr>
            <a:r>
              <a:t>Lançamento oficial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4348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Outfit"/>
              </a:defRPr>
            </a:pPr>
            <a:r>
              <a:t>Abertura das inscrições e campanha de divulgação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074920"/>
            <a:ext cx="10332720" cy="96012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97280" y="5212080"/>
            <a:ext cx="1463040" cy="64008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303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0A14"/>
                </a:solidFill>
                <a:latin typeface="Outfit"/>
              </a:defRPr>
            </a:pPr>
            <a:r>
              <a:t>JUN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5778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A0A14"/>
                </a:solidFill>
                <a:latin typeface="Outfit"/>
              </a:defRPr>
            </a:pPr>
            <a:r>
              <a:t>Contínuo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52120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0"/>
                </a:solidFill>
                <a:latin typeface="Outfit"/>
              </a:defRPr>
            </a:pPr>
            <a:r>
              <a:t>Suporte operacional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55778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Outfit"/>
              </a:defRPr>
            </a:pPr>
            <a:r>
              <a:t>Acompanhamento de inscrições, validação de documentos, helpdesk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669280"/>
            <a:ext cx="10332720" cy="64008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D4A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57607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Outfit"/>
              </a:defRPr>
            </a:pPr>
            <a:r>
              <a:t>🔑 Para o lançamento: servidor de produção, domínio, contas oficiais Cloudinary, base de questões para prova e avaliadores confirmados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0B0"/>
                </a:solidFill>
                <a:latin typeface="Outfit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Outfit"/>
              </a:defRPr>
            </a:pPr>
            <a:r>
              <a:t>Riscos e Mitigações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828800" cy="3810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32720" cy="100584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8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0F0F0"/>
                </a:solidFill>
                <a:latin typeface="Outfit"/>
              </a:defRPr>
            </a:pPr>
            <a:r>
              <a:t>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737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Outfit"/>
              </a:defRPr>
            </a:pPr>
            <a:r>
              <a:t>Sobrecarga no dia da prova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057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8080"/>
                </a:solidFill>
                <a:latin typeface="Outfit"/>
              </a:defRPr>
            </a:pPr>
            <a:r>
              <a:t>Risco: 500+ alunos simultâneos podem sobrecarregar o servidor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78308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Outfit"/>
              </a:defRPr>
            </a:pPr>
            <a:r>
              <a:t>Mitigação: Testes de carga com k6, escalonamento horizontal, CDN para assets estáticos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834640"/>
            <a:ext cx="10332720" cy="100584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8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9260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0F0F0"/>
                </a:solidFill>
                <a:latin typeface="Outfit"/>
              </a:defRPr>
            </a:pPr>
            <a:r>
              <a:t>⚠️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926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Outfit"/>
              </a:defRPr>
            </a:pPr>
            <a:r>
              <a:t>Queda de conexão durante a prova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246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8080"/>
                </a:solidFill>
                <a:latin typeface="Outfit"/>
              </a:defRPr>
            </a:pPr>
            <a:r>
              <a:t>Risco: Aluno perder conexão e respostas não salvas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97180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Outfit"/>
              </a:defRPr>
            </a:pPr>
            <a:r>
              <a:t>Mitigação: Salvamento incremental via upsert a cada resposta, possibilidade de retomar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023360"/>
            <a:ext cx="10332720" cy="100584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8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1148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0F0F0"/>
                </a:solidFill>
                <a:latin typeface="Outfit"/>
              </a:defRPr>
            </a:pPr>
            <a:r>
              <a:t>⚠️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Outfit"/>
              </a:defRPr>
            </a:pPr>
            <a:r>
              <a:t>Baixa adesão na primeira edição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434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8080"/>
                </a:solidFill>
                <a:latin typeface="Outfit"/>
              </a:defRPr>
            </a:pPr>
            <a:r>
              <a:t>Risco: Menos de 500 inscritos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41605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Outfit"/>
              </a:defRPr>
            </a:pPr>
            <a:r>
              <a:t>Mitigação: Divulgação via instituições parceiras, redes sociais, coordenações de curso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212080"/>
            <a:ext cx="10332720" cy="1005840"/>
          </a:xfrm>
          <a:prstGeom prst="roundRect">
            <a:avLst/>
          </a:prstGeom>
          <a:solidFill>
            <a:srgbClr val="121224"/>
          </a:solidFill>
          <a:ln w="12700">
            <a:solidFill>
              <a:srgbClr val="8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303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0F0F0"/>
                </a:solidFill>
                <a:latin typeface="Outfit"/>
              </a:defRPr>
            </a:pPr>
            <a:r>
              <a:t>⚠️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303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Outfit"/>
              </a:defRPr>
            </a:pPr>
            <a:r>
              <a:t>Atraso na disponibilidade dos avaliadores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623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8080"/>
                </a:solidFill>
                <a:latin typeface="Outfit"/>
              </a:defRPr>
            </a:pPr>
            <a:r>
              <a:t>Risco: Fase 2 sem correção a tempo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534924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Outfit"/>
              </a:defRPr>
            </a:pPr>
            <a:r>
              <a:t>Mitigação: Recrutamento antecipado, plataforma de avaliação simplificada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0B0"/>
                </a:solidFill>
                <a:latin typeface="Outfit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0"/>
                </a:solidFill>
                <a:latin typeface="Outfit"/>
              </a:defRPr>
            </a:pPr>
            <a:r>
              <a:t>Vamos construir juntos a maior</a:t>
            </a:r>
            <a:br/>
            <a:r>
              <a:t>olimpíada de Matemática para licenciandos do Brasil.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2560320"/>
            <a:ext cx="3931920" cy="3810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DD"/>
                </a:solidFill>
                <a:latin typeface="Outfit"/>
              </a:defRPr>
            </a:pPr>
            <a:r>
              <a:t>A plataforma está pronta para entrar em produção.</a:t>
            </a:r>
            <a:br/>
            <a:r>
              <a:t>O cronograma é ambicioso mas factível.</a:t>
            </a:r>
            <a:br/>
            <a:r>
              <a:t>O impacto na formação de professores de Matemática será real e mensurável.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83C"/>
                </a:solidFill>
                <a:latin typeface="Outfit"/>
              </a:defRPr>
            </a:pPr>
            <a:r>
              <a:t>Perguntas?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Outfit"/>
              </a:defRPr>
            </a:pPr>
            <a:r>
              <a:t>olicmat • contato@olicmat.com.br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0B0"/>
                </a:solidFill>
                <a:latin typeface="Outfit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